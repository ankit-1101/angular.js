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14285A"/>
                </a:solidFill>
              </a:rPr>
              <a:t>Rotator Cuff Injury: Surgical and Physiotherapy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 b="0">
                <a:solidFill>
                  <a:srgbClr val="464646"/>
                </a:solidFill>
              </a:rPr>
              <a:t>Final-year BPT Presentation</a:t>
            </a:r>
          </a:p>
          <a:p>
            <a:r>
              <a:rPr sz="2000" b="0">
                <a:solidFill>
                  <a:srgbClr val="464646"/>
                </a:solidFill>
              </a:rPr>
              <a:t>Name: ____________  |  College: ____________  |  Date: 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4285A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0">
                <a:solidFill>
                  <a:srgbClr val="282828"/>
                </a:solidFill>
              </a:rPr>
              <a:t>Rotator cuff = group of 4 muscles stabilizing the glenohumeral joint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Injuries: tendinopathy, partial- or full-thickness tears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Common in overhead activities and with aging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Results in pain, weakness, and functional limitation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4285A"/>
                </a:solidFill>
              </a:rPr>
              <a:t>Anatomy &amp; Function (Quick Recap)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0">
                <a:solidFill>
                  <a:srgbClr val="282828"/>
                </a:solidFill>
              </a:rPr>
              <a:t>SITS: Supraspinatus, Infraspinatus, Teres minor, Subscapularis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Primary roles: humeral head centering, shoulder elevation and rotation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Subacromial space relevance in impingement</a:t>
            </a:r>
          </a:p>
        </p:txBody>
      </p:sp>
      <p:sp>
        <p:nvSpPr>
          <p:cNvPr id="4" name="Oval 3"/>
          <p:cNvSpPr/>
          <p:nvPr/>
        </p:nvSpPr>
        <p:spPr>
          <a:xfrm>
            <a:off x="5760720" y="1463040"/>
            <a:ext cx="1188720" cy="1188720"/>
          </a:xfrm>
          <a:prstGeom prst="ellipse">
            <a:avLst/>
          </a:prstGeom>
          <a:solidFill>
            <a:srgbClr val="E6F0FF"/>
          </a:solidFill>
          <a:ln>
            <a:solidFill>
              <a:srgbClr val="14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0">
                <a:solidFill>
                  <a:srgbClr val="14285A"/>
                </a:solidFill>
              </a:rPr>
              <a:t>Humeral</a:t>
            </a:r>
          </a:p>
          <a:p>
            <a:r>
              <a:rPr sz="1200" b="0">
                <a:solidFill>
                  <a:srgbClr val="14285A"/>
                </a:solidFill>
              </a:rPr>
              <a:t>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822960"/>
            <a:ext cx="1828800" cy="457200"/>
          </a:xfrm>
          <a:prstGeom prst="rect">
            <a:avLst/>
          </a:prstGeom>
          <a:solidFill>
            <a:srgbClr val="F5F5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0">
                <a:solidFill>
                  <a:srgbClr val="505050"/>
                </a:solidFill>
              </a:rPr>
              <a:t>Acromion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80" y="1874520"/>
            <a:ext cx="731520" cy="137160"/>
          </a:xfrm>
          <a:prstGeom prst="rect">
            <a:avLst/>
          </a:prstGeom>
          <a:solidFill>
            <a:srgbClr val="C81E1E"/>
          </a:solidFill>
          <a:ln>
            <a:solidFill>
              <a:srgbClr val="9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 b="0">
                <a:solidFill>
                  <a:srgbClr val="FFFFFF"/>
                </a:solidFill>
              </a:rPr>
              <a:t>Supraspinatus</a:t>
            </a:r>
          </a:p>
          <a:p>
            <a:r>
              <a:rPr sz="1000" b="0">
                <a:solidFill>
                  <a:srgbClr val="FFFFFF"/>
                </a:solidFill>
              </a:rPr>
              <a:t>Tendon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4285A"/>
                </a:solidFill>
              </a:rPr>
              <a:t>Causes &amp; Risk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0">
                <a:solidFill>
                  <a:srgbClr val="282828"/>
                </a:solidFill>
              </a:rPr>
              <a:t>Degenerative: age-related tendon wear, hypovascular zones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Overuse: repetitive overhead work/sports (e.g., swimming, tennis)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Traumatic: fall on outstretched hand, sudden eccentric load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Risk factors: smoking, diabetes, hyperlipidemia, poor posture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4285A"/>
                </a:solidFill>
              </a:rPr>
              <a:t>Symptoms &amp; Clinical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0">
                <a:solidFill>
                  <a:srgbClr val="282828"/>
                </a:solidFill>
              </a:rPr>
              <a:t>Pain on lateral shoulder/upper arm, worse with overhead activity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Night pain, difficulty sleeping on affected side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Weakness in abduction/external rotation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Painful arc, crepitus; positive impingement signs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4285A"/>
                </a:solidFill>
              </a:rPr>
              <a:t>Assessment: Tests &amp; Imaging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0">
                <a:solidFill>
                  <a:srgbClr val="282828"/>
                </a:solidFill>
              </a:rPr>
              <a:t>Special tests: Jobe (Empty Can), Hawkins–Kennedy, Neer, External Rotation Lag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Palpation tenderness over greater tuberosity and subacromial region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ROM &amp; strength (MMT) with scapular control assessment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Imaging: X-ray (acromial spur), Ultrasound, MRI (tear size/retreat)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4285A"/>
                </a:solidFill>
              </a:rPr>
              <a:t>Surgical Management: Indications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0">
                <a:solidFill>
                  <a:srgbClr val="282828"/>
                </a:solidFill>
              </a:rPr>
              <a:t>Persistent pain/functional loss after ≥3–6 months of structured rehab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Acute traumatic full-thickness tear in active individuals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Large tears with retraction, failed previous repair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Associated lesions (biceps pathology, impingement) requiring intervention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4285A"/>
                </a:solidFill>
              </a:rPr>
              <a:t>Surgical Procedures (Overview)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sz="2200" b="0">
                <a:solidFill>
                  <a:srgbClr val="282828"/>
                </a:solidFill>
              </a:rPr>
              <a:t>Arthroscopic debridement/subacromial decompression</a:t>
            </a:r>
          </a:p>
          <a:p>
            <a:r>
              <a:rPr sz="2200" b="0">
                <a:solidFill>
                  <a:srgbClr val="282828"/>
                </a:solidFill>
              </a:rPr>
              <a:t>Arthroscopic or mini-open rotator cuff repair</a:t>
            </a:r>
          </a:p>
          <a:p>
            <a:r>
              <a:rPr sz="2200" b="0">
                <a:solidFill>
                  <a:srgbClr val="282828"/>
                </a:solidFill>
              </a:rPr>
              <a:t>Tendon mobilization, footprint preparation, suture anchors</a:t>
            </a:r>
          </a:p>
          <a:p>
            <a:r>
              <a:rPr sz="2200" b="0">
                <a:solidFill>
                  <a:srgbClr val="282828"/>
                </a:solidFill>
              </a:rPr>
              <a:t>Biceps procedures: tenotomy/tenodesis when indicated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sz="2200" b="0">
                <a:solidFill>
                  <a:srgbClr val="282828"/>
                </a:solidFill>
              </a:rPr>
              <a:t>Small: &lt;1 cm; Medium: 1–3 cm; Large: 3–5 cm; Massive: &gt;5 cm</a:t>
            </a:r>
          </a:p>
          <a:p>
            <a:r>
              <a:rPr sz="2200" b="0">
                <a:solidFill>
                  <a:srgbClr val="282828"/>
                </a:solidFill>
              </a:rPr>
              <a:t>Single-row vs. double-row configurations</a:t>
            </a:r>
          </a:p>
          <a:p>
            <a:r>
              <a:rPr sz="2200" b="0">
                <a:solidFill>
                  <a:srgbClr val="282828"/>
                </a:solidFill>
              </a:rPr>
              <a:t>Concomitant acromioplasty for impingement morphology</a:t>
            </a:r>
          </a:p>
          <a:p>
            <a:r>
              <a:rPr sz="2200" b="0">
                <a:solidFill>
                  <a:srgbClr val="282828"/>
                </a:solidFill>
              </a:rPr>
              <a:t>Reverse TSA for cuff tear arthropathy (select cases)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4285A"/>
                </a:solidFill>
              </a:rPr>
              <a:t>Surgery: Outcomes &amp;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0">
                <a:solidFill>
                  <a:srgbClr val="282828"/>
                </a:solidFill>
              </a:rPr>
              <a:t>Pain relief is common; strength recovery depends on tear size/quality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Re-tear risk: age, tendon quality, large/massive tears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Complications: stiffness, infection, anchor issues, biceps pain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Adherence to post-op protocol is crucial for tendon healing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4285A"/>
                </a:solidFill>
              </a:rPr>
              <a:t>Physiotherapy Management: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0">
                <a:solidFill>
                  <a:srgbClr val="282828"/>
                </a:solidFill>
              </a:rPr>
              <a:t>Tailor program to diagnosis: non-operative vs. post-operative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Stage-based progression guided by pain, ROM, and healing timelines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Key pillars: pain control, mobility, motor control, strength, function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Education: activity modification and load management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4285A"/>
                </a:solidFill>
              </a:rPr>
              <a:t>Pre-operative Physiotherapy (Prehab 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0">
                <a:solidFill>
                  <a:srgbClr val="282828"/>
                </a:solidFill>
              </a:rPr>
              <a:t>Goals: pain modulation, maintain ROM, optimize scapular mechanics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Interventions: pendulums, AAROM within tolerance, postural cues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Isometrics for deltoid/RC within pain limits; scapular setting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Education: sling use post-op, sleep positioning, expectations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4285A"/>
                </a:solidFill>
              </a:rPr>
              <a:t>Post-op Phase I (0–2 weeks)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0">
                <a:solidFill>
                  <a:srgbClr val="282828"/>
                </a:solidFill>
              </a:rPr>
              <a:t>Protection: sling/abduction pillow as prescribed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Pain/edema control: cold therapy, supported positioning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Passive ROM only (per protocol): flexion, ER in scapular plane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Pendulums, distal AROM (elbow/wrist/hand)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4389120"/>
            <a:ext cx="8046720" cy="228600"/>
          </a:xfrm>
          <a:prstGeom prst="rect">
            <a:avLst/>
          </a:prstGeom>
          <a:solidFill>
            <a:srgbClr val="DCE2F0"/>
          </a:solidFill>
          <a:ln>
            <a:solidFill>
              <a:srgbClr val="14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411480" y="4069080"/>
            <a:ext cx="274320" cy="274320"/>
          </a:xfrm>
          <a:prstGeom prst="triangle">
            <a:avLst/>
          </a:prstGeom>
          <a:solidFill>
            <a:srgbClr val="14285A"/>
          </a:solidFill>
          <a:ln>
            <a:solidFill>
              <a:srgbClr val="14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3657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4285A"/>
                </a:solidFill>
              </a:rPr>
              <a:t>0-2 wks</a:t>
            </a:r>
          </a:p>
        </p:txBody>
      </p:sp>
      <p:sp>
        <p:nvSpPr>
          <p:cNvPr id="7" name="Isosceles Triangle 6"/>
          <p:cNvSpPr/>
          <p:nvPr/>
        </p:nvSpPr>
        <p:spPr>
          <a:xfrm>
            <a:off x="2423160" y="4069080"/>
            <a:ext cx="274320" cy="274320"/>
          </a:xfrm>
          <a:prstGeom prst="triangle">
            <a:avLst/>
          </a:prstGeom>
          <a:solidFill>
            <a:srgbClr val="14285A"/>
          </a:solidFill>
          <a:ln>
            <a:solidFill>
              <a:srgbClr val="14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3657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4285A"/>
                </a:solidFill>
              </a:rPr>
              <a:t>2-6 wks</a:t>
            </a:r>
          </a:p>
        </p:txBody>
      </p:sp>
      <p:sp>
        <p:nvSpPr>
          <p:cNvPr id="9" name="Isosceles Triangle 8"/>
          <p:cNvSpPr/>
          <p:nvPr/>
        </p:nvSpPr>
        <p:spPr>
          <a:xfrm>
            <a:off x="4837176" y="4069080"/>
            <a:ext cx="274320" cy="274320"/>
          </a:xfrm>
          <a:prstGeom prst="triangle">
            <a:avLst/>
          </a:prstGeom>
          <a:solidFill>
            <a:srgbClr val="14285A"/>
          </a:solidFill>
          <a:ln>
            <a:solidFill>
              <a:srgbClr val="14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3657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4285A"/>
                </a:solidFill>
              </a:rPr>
              <a:t>6-12 wks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7251192" y="4069080"/>
            <a:ext cx="274320" cy="274320"/>
          </a:xfrm>
          <a:prstGeom prst="triangle">
            <a:avLst/>
          </a:prstGeom>
          <a:solidFill>
            <a:srgbClr val="14285A"/>
          </a:solidFill>
          <a:ln>
            <a:solidFill>
              <a:srgbClr val="14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31152" y="3657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4285A"/>
                </a:solidFill>
              </a:rPr>
              <a:t>12+ wks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4285A"/>
                </a:solidFill>
              </a:rPr>
              <a:t>Post-op Phase II (2–6 weeks)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0">
                <a:solidFill>
                  <a:srgbClr val="282828"/>
                </a:solidFill>
              </a:rPr>
              <a:t>Progress PROM; initiate AAROM (pulleys, wand) within limits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Scapular stability: retraction/depression drills, closed-chain weight shifts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Avoid active shoulder elevation if repair not ready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Monitor for stiffness; respect pain and night symptoms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4389120"/>
            <a:ext cx="8046720" cy="228600"/>
          </a:xfrm>
          <a:prstGeom prst="rect">
            <a:avLst/>
          </a:prstGeom>
          <a:solidFill>
            <a:srgbClr val="DCE2F0"/>
          </a:solidFill>
          <a:ln>
            <a:solidFill>
              <a:srgbClr val="14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411480" y="4069080"/>
            <a:ext cx="274320" cy="274320"/>
          </a:xfrm>
          <a:prstGeom prst="triangle">
            <a:avLst/>
          </a:prstGeom>
          <a:solidFill>
            <a:srgbClr val="14285A"/>
          </a:solidFill>
          <a:ln>
            <a:solidFill>
              <a:srgbClr val="14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3657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4285A"/>
                </a:solidFill>
              </a:rPr>
              <a:t>0-2 wks</a:t>
            </a:r>
          </a:p>
        </p:txBody>
      </p:sp>
      <p:sp>
        <p:nvSpPr>
          <p:cNvPr id="7" name="Isosceles Triangle 6"/>
          <p:cNvSpPr/>
          <p:nvPr/>
        </p:nvSpPr>
        <p:spPr>
          <a:xfrm>
            <a:off x="2423160" y="4069080"/>
            <a:ext cx="274320" cy="274320"/>
          </a:xfrm>
          <a:prstGeom prst="triangle">
            <a:avLst/>
          </a:prstGeom>
          <a:solidFill>
            <a:srgbClr val="14285A"/>
          </a:solidFill>
          <a:ln>
            <a:solidFill>
              <a:srgbClr val="14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3657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4285A"/>
                </a:solidFill>
              </a:rPr>
              <a:t>2-6 wks</a:t>
            </a:r>
          </a:p>
        </p:txBody>
      </p:sp>
      <p:sp>
        <p:nvSpPr>
          <p:cNvPr id="9" name="Isosceles Triangle 8"/>
          <p:cNvSpPr/>
          <p:nvPr/>
        </p:nvSpPr>
        <p:spPr>
          <a:xfrm>
            <a:off x="4837176" y="4069080"/>
            <a:ext cx="274320" cy="274320"/>
          </a:xfrm>
          <a:prstGeom prst="triangle">
            <a:avLst/>
          </a:prstGeom>
          <a:solidFill>
            <a:srgbClr val="14285A"/>
          </a:solidFill>
          <a:ln>
            <a:solidFill>
              <a:srgbClr val="14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3657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4285A"/>
                </a:solidFill>
              </a:rPr>
              <a:t>6-12 wks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7251192" y="4069080"/>
            <a:ext cx="274320" cy="274320"/>
          </a:xfrm>
          <a:prstGeom prst="triangle">
            <a:avLst/>
          </a:prstGeom>
          <a:solidFill>
            <a:srgbClr val="14285A"/>
          </a:solidFill>
          <a:ln>
            <a:solidFill>
              <a:srgbClr val="14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31152" y="3657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4285A"/>
                </a:solidFill>
              </a:rPr>
              <a:t>12+ wks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4285A"/>
                </a:solidFill>
              </a:rPr>
              <a:t>Post-op Phase III (6–12 weeks)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0">
                <a:solidFill>
                  <a:srgbClr val="282828"/>
                </a:solidFill>
              </a:rPr>
              <a:t>Transition to AROM then light strengthening as cleared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Isometrics → bands for ER/IR, rows; avoid painful arcs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Neuromuscular control: scapulohumeral rhythm, serratus/low trap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Functional reaching patterns below shoulder height initially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4389120"/>
            <a:ext cx="8046720" cy="228600"/>
          </a:xfrm>
          <a:prstGeom prst="rect">
            <a:avLst/>
          </a:prstGeom>
          <a:solidFill>
            <a:srgbClr val="DCE2F0"/>
          </a:solidFill>
          <a:ln>
            <a:solidFill>
              <a:srgbClr val="14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411480" y="4069080"/>
            <a:ext cx="274320" cy="274320"/>
          </a:xfrm>
          <a:prstGeom prst="triangle">
            <a:avLst/>
          </a:prstGeom>
          <a:solidFill>
            <a:srgbClr val="14285A"/>
          </a:solidFill>
          <a:ln>
            <a:solidFill>
              <a:srgbClr val="14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3657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4285A"/>
                </a:solidFill>
              </a:rPr>
              <a:t>0-2 wks</a:t>
            </a:r>
          </a:p>
        </p:txBody>
      </p:sp>
      <p:sp>
        <p:nvSpPr>
          <p:cNvPr id="7" name="Isosceles Triangle 6"/>
          <p:cNvSpPr/>
          <p:nvPr/>
        </p:nvSpPr>
        <p:spPr>
          <a:xfrm>
            <a:off x="2423160" y="4069080"/>
            <a:ext cx="274320" cy="274320"/>
          </a:xfrm>
          <a:prstGeom prst="triangle">
            <a:avLst/>
          </a:prstGeom>
          <a:solidFill>
            <a:srgbClr val="14285A"/>
          </a:solidFill>
          <a:ln>
            <a:solidFill>
              <a:srgbClr val="14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3657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4285A"/>
                </a:solidFill>
              </a:rPr>
              <a:t>2-6 wks</a:t>
            </a:r>
          </a:p>
        </p:txBody>
      </p:sp>
      <p:sp>
        <p:nvSpPr>
          <p:cNvPr id="9" name="Isosceles Triangle 8"/>
          <p:cNvSpPr/>
          <p:nvPr/>
        </p:nvSpPr>
        <p:spPr>
          <a:xfrm>
            <a:off x="4837176" y="4069080"/>
            <a:ext cx="274320" cy="274320"/>
          </a:xfrm>
          <a:prstGeom prst="triangle">
            <a:avLst/>
          </a:prstGeom>
          <a:solidFill>
            <a:srgbClr val="14285A"/>
          </a:solidFill>
          <a:ln>
            <a:solidFill>
              <a:srgbClr val="14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3657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4285A"/>
                </a:solidFill>
              </a:rPr>
              <a:t>6-12 wks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7251192" y="4069080"/>
            <a:ext cx="274320" cy="274320"/>
          </a:xfrm>
          <a:prstGeom prst="triangle">
            <a:avLst/>
          </a:prstGeom>
          <a:solidFill>
            <a:srgbClr val="14285A"/>
          </a:solidFill>
          <a:ln>
            <a:solidFill>
              <a:srgbClr val="14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31152" y="3657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4285A"/>
                </a:solidFill>
              </a:rPr>
              <a:t>12+ wks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4285A"/>
                </a:solidFill>
              </a:rPr>
              <a:t>Post-op Phase IV (12+ weeks)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0">
                <a:solidFill>
                  <a:srgbClr val="282828"/>
                </a:solidFill>
              </a:rPr>
              <a:t>Progressive resistance: multi-plane, endurance and power as needed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Closed/open-chain integration: wall slides, push-up plus, landmine press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Sport/work-specific drills when criteria met (ROM/strength/pain)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Ongoing education on load management and recovery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4389120"/>
            <a:ext cx="8046720" cy="228600"/>
          </a:xfrm>
          <a:prstGeom prst="rect">
            <a:avLst/>
          </a:prstGeom>
          <a:solidFill>
            <a:srgbClr val="DCE2F0"/>
          </a:solidFill>
          <a:ln>
            <a:solidFill>
              <a:srgbClr val="14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411480" y="4069080"/>
            <a:ext cx="274320" cy="274320"/>
          </a:xfrm>
          <a:prstGeom prst="triangle">
            <a:avLst/>
          </a:prstGeom>
          <a:solidFill>
            <a:srgbClr val="14285A"/>
          </a:solidFill>
          <a:ln>
            <a:solidFill>
              <a:srgbClr val="14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3657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4285A"/>
                </a:solidFill>
              </a:rPr>
              <a:t>0-2 wks</a:t>
            </a:r>
          </a:p>
        </p:txBody>
      </p:sp>
      <p:sp>
        <p:nvSpPr>
          <p:cNvPr id="7" name="Isosceles Triangle 6"/>
          <p:cNvSpPr/>
          <p:nvPr/>
        </p:nvSpPr>
        <p:spPr>
          <a:xfrm>
            <a:off x="2423160" y="4069080"/>
            <a:ext cx="274320" cy="274320"/>
          </a:xfrm>
          <a:prstGeom prst="triangle">
            <a:avLst/>
          </a:prstGeom>
          <a:solidFill>
            <a:srgbClr val="14285A"/>
          </a:solidFill>
          <a:ln>
            <a:solidFill>
              <a:srgbClr val="14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3657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4285A"/>
                </a:solidFill>
              </a:rPr>
              <a:t>2-6 wks</a:t>
            </a:r>
          </a:p>
        </p:txBody>
      </p:sp>
      <p:sp>
        <p:nvSpPr>
          <p:cNvPr id="9" name="Isosceles Triangle 8"/>
          <p:cNvSpPr/>
          <p:nvPr/>
        </p:nvSpPr>
        <p:spPr>
          <a:xfrm>
            <a:off x="4837176" y="4069080"/>
            <a:ext cx="274320" cy="274320"/>
          </a:xfrm>
          <a:prstGeom prst="triangle">
            <a:avLst/>
          </a:prstGeom>
          <a:solidFill>
            <a:srgbClr val="14285A"/>
          </a:solidFill>
          <a:ln>
            <a:solidFill>
              <a:srgbClr val="14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3657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4285A"/>
                </a:solidFill>
              </a:rPr>
              <a:t>6-12 wks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7251192" y="4069080"/>
            <a:ext cx="274320" cy="274320"/>
          </a:xfrm>
          <a:prstGeom prst="triangle">
            <a:avLst/>
          </a:prstGeom>
          <a:solidFill>
            <a:srgbClr val="14285A"/>
          </a:solidFill>
          <a:ln>
            <a:solidFill>
              <a:srgbClr val="14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31152" y="3657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4285A"/>
                </a:solidFill>
              </a:rPr>
              <a:t>12+ wks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4285A"/>
                </a:solidFill>
              </a:rPr>
              <a:t>Exercises &amp; Precautions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sz="2200" b="0">
                <a:solidFill>
                  <a:srgbClr val="282828"/>
                </a:solidFill>
              </a:rPr>
              <a:t>Gentle pendulums, table slides, wand AAROM</a:t>
            </a:r>
          </a:p>
          <a:p>
            <a:r>
              <a:rPr sz="2200" b="0">
                <a:solidFill>
                  <a:srgbClr val="282828"/>
                </a:solidFill>
              </a:rPr>
              <a:t>Scapular clocks, prone Ys/Ts (later phases)</a:t>
            </a:r>
          </a:p>
          <a:p>
            <a:r>
              <a:rPr sz="2200" b="0">
                <a:solidFill>
                  <a:srgbClr val="282828"/>
                </a:solidFill>
              </a:rPr>
              <a:t>Theraband rows, ER/IR at 0–45° abduction</a:t>
            </a:r>
          </a:p>
          <a:p>
            <a:r>
              <a:rPr sz="2200" b="0">
                <a:solidFill>
                  <a:srgbClr val="282828"/>
                </a:solidFill>
              </a:rPr>
              <a:t>Closed-chain weight shifts, wall push-up plus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sz="2200" b="0">
                <a:solidFill>
                  <a:srgbClr val="282828"/>
                </a:solidFill>
              </a:rPr>
              <a:t>Avoid aggressive stretching early post-op</a:t>
            </a:r>
          </a:p>
          <a:p>
            <a:r>
              <a:rPr sz="2200" b="0">
                <a:solidFill>
                  <a:srgbClr val="282828"/>
                </a:solidFill>
              </a:rPr>
              <a:t>No lifting overhead or sudden jerks initially</a:t>
            </a:r>
          </a:p>
          <a:p>
            <a:r>
              <a:rPr sz="2200" b="0">
                <a:solidFill>
                  <a:srgbClr val="282828"/>
                </a:solidFill>
              </a:rPr>
              <a:t>Respect pain/night pain; avoid impingement positions</a:t>
            </a:r>
          </a:p>
          <a:p>
            <a:r>
              <a:rPr sz="2200" b="0">
                <a:solidFill>
                  <a:srgbClr val="282828"/>
                </a:solidFill>
              </a:rPr>
              <a:t>Follow surgeon-specific protocol and healing constraints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4285A"/>
                </a:solidFill>
              </a:rPr>
              <a:t>Home Program &amp;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0">
                <a:solidFill>
                  <a:srgbClr val="282828"/>
                </a:solidFill>
              </a:rPr>
              <a:t>Daily symptom-guided ROM (as allowed)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Ice after exercises if sore; heat before if stiff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Posture breaks; sleep with pillows for support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Consistency over intensity; log exercises to track progress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4285A"/>
                </a:solidFill>
              </a:rPr>
              <a:t>Case Study (Example)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0">
                <a:solidFill>
                  <a:srgbClr val="282828"/>
                </a:solidFill>
              </a:rPr>
              <a:t>52-year-old painter; 3 months shoulder pain, night pain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Exam: painful arc 70–120°, ER weakness; +Jobe, +Hawkins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MRI: medium supraspinatus tear; arthroscopic repair performed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Rehab: phased protocol; at 12 wks: near-full PROM, band strengthening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4285A"/>
                </a:solidFill>
              </a:rPr>
              <a:t>Case Outcome (12–16 weeks)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sz="2200" b="0">
                <a:solidFill>
                  <a:srgbClr val="282828"/>
                </a:solidFill>
              </a:rPr>
              <a:t>Pain: 7/10 → 2/10 (night pain minimal)</a:t>
            </a:r>
          </a:p>
          <a:p>
            <a:r>
              <a:rPr sz="2200" b="0">
                <a:solidFill>
                  <a:srgbClr val="282828"/>
                </a:solidFill>
              </a:rPr>
              <a:t>ROM: Flex 160°, Abd 150°, ER 50°</a:t>
            </a:r>
          </a:p>
          <a:p>
            <a:r>
              <a:rPr sz="2200" b="0">
                <a:solidFill>
                  <a:srgbClr val="282828"/>
                </a:solidFill>
              </a:rPr>
              <a:t>Strength: ER 4/5; resumed light duties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sz="2200" b="0">
                <a:solidFill>
                  <a:srgbClr val="282828"/>
                </a:solidFill>
              </a:rPr>
              <a:t>Ongoing: progressive strengthening, overhead tolerance</a:t>
            </a:r>
          </a:p>
          <a:p>
            <a:r>
              <a:rPr sz="2200" b="0">
                <a:solidFill>
                  <a:srgbClr val="282828"/>
                </a:solidFill>
              </a:rPr>
              <a:t>Return-to-work plan with graded exposure</a:t>
            </a:r>
          </a:p>
          <a:p>
            <a:r>
              <a:rPr sz="2200" b="0">
                <a:solidFill>
                  <a:srgbClr val="282828"/>
                </a:solidFill>
              </a:rPr>
              <a:t>Emphasis on posture and load pacing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4285A"/>
                </a:solidFill>
              </a:rPr>
              <a:t>Conclusion &amp;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0">
                <a:solidFill>
                  <a:srgbClr val="282828"/>
                </a:solidFill>
              </a:rPr>
              <a:t>Early identification and load management reduce chronicity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Surgery helps selected patients; rehab is essential to outcomes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Phase-based PT guided by symptoms and healing timelines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Communication: patient–physio–surgeon team approach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4285A"/>
                </a:solidFill>
              </a:rPr>
              <a:t>References (Selected)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0">
                <a:solidFill>
                  <a:srgbClr val="282828"/>
                </a:solidFill>
              </a:rPr>
              <a:t>American Academy of Orthopaedic Surgeons (AAOS) guidelines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Bain et al. Shoulder &amp; Elbow texts; Kisner &amp; Colby (Ther Ex)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Recent systematic reviews on rotator cuff repair outcomes</a:t>
            </a:r>
          </a:p>
          <a:p>
            <a:pPr/>
            <a:r>
              <a:rPr sz="2200" b="0">
                <a:solidFill>
                  <a:srgbClr val="282828"/>
                </a:solidFill>
              </a:rPr>
              <a:t>Local hospital post-op protocols (per surgeon preference)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